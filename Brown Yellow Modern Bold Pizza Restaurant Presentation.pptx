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ton" charset="1" panose="00000500000000000000"/>
      <p:regular r:id="rId22"/>
    </p:embeddedFont>
    <p:embeddedFont>
      <p:font typeface="Poppins" charset="1" panose="000005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93938" y="4002479"/>
            <a:ext cx="11277162" cy="112771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58748" y="-4415216"/>
            <a:ext cx="13673516" cy="1367351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931365" y="-1995988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1749769" y="7408383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49738" y="7999921"/>
            <a:ext cx="8309562" cy="1641138"/>
          </a:xfrm>
          <a:custGeom>
            <a:avLst/>
            <a:gdLst/>
            <a:ahLst/>
            <a:cxnLst/>
            <a:rect r="r" b="b" t="t" l="l"/>
            <a:pathLst>
              <a:path h="1641138" w="8309562">
                <a:moveTo>
                  <a:pt x="0" y="0"/>
                </a:moveTo>
                <a:lnTo>
                  <a:pt x="8309562" y="0"/>
                </a:lnTo>
                <a:lnTo>
                  <a:pt x="8309562" y="1641139"/>
                </a:lnTo>
                <a:lnTo>
                  <a:pt x="0" y="1641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43208">
            <a:off x="8851940" y="2808763"/>
            <a:ext cx="9257949" cy="5878797"/>
          </a:xfrm>
          <a:custGeom>
            <a:avLst/>
            <a:gdLst/>
            <a:ahLst/>
            <a:cxnLst/>
            <a:rect r="r" b="b" t="t" l="l"/>
            <a:pathLst>
              <a:path h="5878797" w="9257949">
                <a:moveTo>
                  <a:pt x="0" y="0"/>
                </a:moveTo>
                <a:lnTo>
                  <a:pt x="9257948" y="0"/>
                </a:lnTo>
                <a:lnTo>
                  <a:pt x="9257948" y="5878797"/>
                </a:lnTo>
                <a:lnTo>
                  <a:pt x="0" y="58787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32519" y="338697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470500"/>
            <a:ext cx="7652802" cy="609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91"/>
              </a:lnSpc>
            </a:pPr>
            <a:r>
              <a:rPr lang="en-US" sz="22683" strike="noStrike" u="none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PIZZA</a:t>
            </a:r>
          </a:p>
          <a:p>
            <a:pPr algn="l" marL="0" indent="0" lvl="0">
              <a:lnSpc>
                <a:spcPts val="23591"/>
              </a:lnSpc>
            </a:pPr>
            <a:r>
              <a:rPr lang="en-US" sz="22683" strike="noStrike" u="none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RESTO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1691087">
            <a:off x="7175853" y="-2153656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2"/>
                </a:lnTo>
                <a:lnTo>
                  <a:pt x="0" y="43073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275355" y="902740"/>
            <a:ext cx="6226825" cy="856217"/>
            <a:chOff x="0" y="0"/>
            <a:chExt cx="1639987" cy="2255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39987" cy="225506"/>
            </a:xfrm>
            <a:custGeom>
              <a:avLst/>
              <a:gdLst/>
              <a:ahLst/>
              <a:cxnLst/>
              <a:rect r="r" b="b" t="t" l="l"/>
              <a:pathLst>
                <a:path h="225506" w="1639987">
                  <a:moveTo>
                    <a:pt x="112753" y="0"/>
                  </a:moveTo>
                  <a:lnTo>
                    <a:pt x="1527234" y="0"/>
                  </a:lnTo>
                  <a:cubicBezTo>
                    <a:pt x="1589505" y="0"/>
                    <a:pt x="1639987" y="50481"/>
                    <a:pt x="1639987" y="112753"/>
                  </a:cubicBezTo>
                  <a:lnTo>
                    <a:pt x="1639987" y="112753"/>
                  </a:lnTo>
                  <a:cubicBezTo>
                    <a:pt x="1639987" y="175025"/>
                    <a:pt x="1589505" y="225506"/>
                    <a:pt x="1527234" y="225506"/>
                  </a:cubicBezTo>
                  <a:lnTo>
                    <a:pt x="112753" y="225506"/>
                  </a:lnTo>
                  <a:cubicBezTo>
                    <a:pt x="50481" y="225506"/>
                    <a:pt x="0" y="175025"/>
                    <a:pt x="0" y="112753"/>
                  </a:cubicBezTo>
                  <a:lnTo>
                    <a:pt x="0" y="112753"/>
                  </a:lnTo>
                  <a:cubicBezTo>
                    <a:pt x="0" y="50481"/>
                    <a:pt x="50481" y="0"/>
                    <a:pt x="112753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39987" cy="28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24728" y="1012115"/>
            <a:ext cx="2087209" cy="637467"/>
            <a:chOff x="0" y="0"/>
            <a:chExt cx="549718" cy="1678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718" cy="167893"/>
            </a:xfrm>
            <a:custGeom>
              <a:avLst/>
              <a:gdLst/>
              <a:ahLst/>
              <a:cxnLst/>
              <a:rect r="r" b="b" t="t" l="l"/>
              <a:pathLst>
                <a:path h="167893" w="549718">
                  <a:moveTo>
                    <a:pt x="83946" y="0"/>
                  </a:moveTo>
                  <a:lnTo>
                    <a:pt x="465771" y="0"/>
                  </a:lnTo>
                  <a:cubicBezTo>
                    <a:pt x="512134" y="0"/>
                    <a:pt x="549718" y="37584"/>
                    <a:pt x="549718" y="83946"/>
                  </a:cubicBezTo>
                  <a:lnTo>
                    <a:pt x="549718" y="83946"/>
                  </a:lnTo>
                  <a:cubicBezTo>
                    <a:pt x="549718" y="130309"/>
                    <a:pt x="512134" y="167893"/>
                    <a:pt x="465771" y="167893"/>
                  </a:cubicBezTo>
                  <a:lnTo>
                    <a:pt x="83946" y="167893"/>
                  </a:lnTo>
                  <a:cubicBezTo>
                    <a:pt x="37584" y="167893"/>
                    <a:pt x="0" y="130309"/>
                    <a:pt x="0" y="83946"/>
                  </a:cubicBezTo>
                  <a:lnTo>
                    <a:pt x="0" y="83946"/>
                  </a:lnTo>
                  <a:cubicBezTo>
                    <a:pt x="0" y="37584"/>
                    <a:pt x="37584" y="0"/>
                    <a:pt x="839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49718" cy="225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6437" y="8639392"/>
            <a:ext cx="176597" cy="17659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38360" y="937714"/>
            <a:ext cx="1789180" cy="49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SHODWE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38360" y="1370894"/>
            <a:ext cx="1879301" cy="38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  <a:spcBef>
                <a:spcPct val="0"/>
              </a:spcBef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Pizza Resto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8882" y="8436959"/>
            <a:ext cx="7585118" cy="47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305" spc="6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EVERY SLICE TELLS A STORY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52009" y="-6398899"/>
            <a:ext cx="13673516" cy="136735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752131" y="4181326"/>
            <a:ext cx="12667454" cy="12078353"/>
            <a:chOff x="0" y="0"/>
            <a:chExt cx="812800" cy="775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75001"/>
            </a:xfrm>
            <a:custGeom>
              <a:avLst/>
              <a:gdLst/>
              <a:ahLst/>
              <a:cxnLst/>
              <a:rect r="r" b="b" t="t" l="l"/>
              <a:pathLst>
                <a:path h="775001" w="812800">
                  <a:moveTo>
                    <a:pt x="406400" y="0"/>
                  </a:moveTo>
                  <a:cubicBezTo>
                    <a:pt x="181951" y="0"/>
                    <a:pt x="0" y="173490"/>
                    <a:pt x="0" y="387500"/>
                  </a:cubicBezTo>
                  <a:cubicBezTo>
                    <a:pt x="0" y="601511"/>
                    <a:pt x="181951" y="775001"/>
                    <a:pt x="406400" y="775001"/>
                  </a:cubicBezTo>
                  <a:cubicBezTo>
                    <a:pt x="630849" y="775001"/>
                    <a:pt x="812800" y="601511"/>
                    <a:pt x="812800" y="387500"/>
                  </a:cubicBezTo>
                  <a:cubicBezTo>
                    <a:pt x="812800" y="17349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5506"/>
              <a:ext cx="660400" cy="686838"/>
            </a:xfrm>
            <a:prstGeom prst="rect">
              <a:avLst/>
            </a:prstGeom>
          </p:spPr>
          <p:txBody>
            <a:bodyPr anchor="ctr" rtlCol="false" tIns="44922" lIns="44922" bIns="44922" rIns="4492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4537" y="2319355"/>
            <a:ext cx="8239900" cy="8229600"/>
          </a:xfrm>
          <a:custGeom>
            <a:avLst/>
            <a:gdLst/>
            <a:ahLst/>
            <a:cxnLst/>
            <a:rect r="r" b="b" t="t" l="l"/>
            <a:pathLst>
              <a:path h="8229600" w="8239900">
                <a:moveTo>
                  <a:pt x="0" y="0"/>
                </a:moveTo>
                <a:lnTo>
                  <a:pt x="8239900" y="0"/>
                </a:lnTo>
                <a:lnTo>
                  <a:pt x="82399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86147" y="2319355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275355" y="902740"/>
            <a:ext cx="6226825" cy="856217"/>
            <a:chOff x="0" y="0"/>
            <a:chExt cx="1639987" cy="2255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9987" cy="225506"/>
            </a:xfrm>
            <a:custGeom>
              <a:avLst/>
              <a:gdLst/>
              <a:ahLst/>
              <a:cxnLst/>
              <a:rect r="r" b="b" t="t" l="l"/>
              <a:pathLst>
                <a:path h="225506" w="1639987">
                  <a:moveTo>
                    <a:pt x="112753" y="0"/>
                  </a:moveTo>
                  <a:lnTo>
                    <a:pt x="1527234" y="0"/>
                  </a:lnTo>
                  <a:cubicBezTo>
                    <a:pt x="1589505" y="0"/>
                    <a:pt x="1639987" y="50481"/>
                    <a:pt x="1639987" y="112753"/>
                  </a:cubicBezTo>
                  <a:lnTo>
                    <a:pt x="1639987" y="112753"/>
                  </a:lnTo>
                  <a:cubicBezTo>
                    <a:pt x="1639987" y="175025"/>
                    <a:pt x="1589505" y="225506"/>
                    <a:pt x="1527234" y="225506"/>
                  </a:cubicBezTo>
                  <a:lnTo>
                    <a:pt x="112753" y="225506"/>
                  </a:lnTo>
                  <a:cubicBezTo>
                    <a:pt x="50481" y="225506"/>
                    <a:pt x="0" y="175025"/>
                    <a:pt x="0" y="112753"/>
                  </a:cubicBezTo>
                  <a:lnTo>
                    <a:pt x="0" y="112753"/>
                  </a:lnTo>
                  <a:cubicBezTo>
                    <a:pt x="0" y="50481"/>
                    <a:pt x="50481" y="0"/>
                    <a:pt x="112753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39987" cy="28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24728" y="1012115"/>
            <a:ext cx="2087209" cy="637467"/>
            <a:chOff x="0" y="0"/>
            <a:chExt cx="549718" cy="1678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718" cy="167893"/>
            </a:xfrm>
            <a:custGeom>
              <a:avLst/>
              <a:gdLst/>
              <a:ahLst/>
              <a:cxnLst/>
              <a:rect r="r" b="b" t="t" l="l"/>
              <a:pathLst>
                <a:path h="167893" w="549718">
                  <a:moveTo>
                    <a:pt x="83946" y="0"/>
                  </a:moveTo>
                  <a:lnTo>
                    <a:pt x="465771" y="0"/>
                  </a:lnTo>
                  <a:cubicBezTo>
                    <a:pt x="512134" y="0"/>
                    <a:pt x="549718" y="37584"/>
                    <a:pt x="549718" y="83946"/>
                  </a:cubicBezTo>
                  <a:lnTo>
                    <a:pt x="549718" y="83946"/>
                  </a:lnTo>
                  <a:cubicBezTo>
                    <a:pt x="549718" y="130309"/>
                    <a:pt x="512134" y="167893"/>
                    <a:pt x="465771" y="167893"/>
                  </a:cubicBezTo>
                  <a:lnTo>
                    <a:pt x="83946" y="167893"/>
                  </a:lnTo>
                  <a:cubicBezTo>
                    <a:pt x="37584" y="167893"/>
                    <a:pt x="0" y="130309"/>
                    <a:pt x="0" y="83946"/>
                  </a:cubicBezTo>
                  <a:lnTo>
                    <a:pt x="0" y="83946"/>
                  </a:lnTo>
                  <a:cubicBezTo>
                    <a:pt x="0" y="37584"/>
                    <a:pt x="37584" y="0"/>
                    <a:pt x="839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49718" cy="225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5243" y="2319355"/>
            <a:ext cx="7277380" cy="6938945"/>
            <a:chOff x="0" y="0"/>
            <a:chExt cx="812800" cy="7750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75001"/>
            </a:xfrm>
            <a:custGeom>
              <a:avLst/>
              <a:gdLst/>
              <a:ahLst/>
              <a:cxnLst/>
              <a:rect r="r" b="b" t="t" l="l"/>
              <a:pathLst>
                <a:path h="775001" w="812800">
                  <a:moveTo>
                    <a:pt x="406400" y="0"/>
                  </a:moveTo>
                  <a:cubicBezTo>
                    <a:pt x="181951" y="0"/>
                    <a:pt x="0" y="173490"/>
                    <a:pt x="0" y="387500"/>
                  </a:cubicBezTo>
                  <a:cubicBezTo>
                    <a:pt x="0" y="601511"/>
                    <a:pt x="181951" y="775001"/>
                    <a:pt x="406400" y="775001"/>
                  </a:cubicBezTo>
                  <a:cubicBezTo>
                    <a:pt x="630849" y="775001"/>
                    <a:pt x="812800" y="601511"/>
                    <a:pt x="812800" y="387500"/>
                  </a:cubicBezTo>
                  <a:cubicBezTo>
                    <a:pt x="812800" y="17349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5506"/>
              <a:ext cx="660400" cy="686838"/>
            </a:xfrm>
            <a:prstGeom prst="rect">
              <a:avLst/>
            </a:prstGeom>
          </p:spPr>
          <p:txBody>
            <a:bodyPr anchor="ctr" rtlCol="false" tIns="44922" lIns="44922" bIns="44922" rIns="4492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91121" y="2492818"/>
            <a:ext cx="7004674" cy="6572970"/>
          </a:xfrm>
          <a:custGeom>
            <a:avLst/>
            <a:gdLst/>
            <a:ahLst/>
            <a:cxnLst/>
            <a:rect r="r" b="b" t="t" l="l"/>
            <a:pathLst>
              <a:path h="6572970" w="7004674">
                <a:moveTo>
                  <a:pt x="0" y="0"/>
                </a:moveTo>
                <a:lnTo>
                  <a:pt x="7004673" y="0"/>
                </a:lnTo>
                <a:lnTo>
                  <a:pt x="7004673" y="6572969"/>
                </a:lnTo>
                <a:lnTo>
                  <a:pt x="0" y="6572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85" r="0" b="-1285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3477770">
            <a:off x="5056692" y="7481852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938360" y="937714"/>
            <a:ext cx="1789180" cy="49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SHODWE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38360" y="1370894"/>
            <a:ext cx="1879301" cy="38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  <a:spcBef>
                <a:spcPct val="0"/>
              </a:spcBef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Pizza Resto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89087" y="3842130"/>
            <a:ext cx="10017665" cy="7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  <a:spcBef>
                <a:spcPct val="0"/>
              </a:spcBef>
            </a:pPr>
            <a:r>
              <a:rPr lang="en-US" sz="285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285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HELLO MY NAME IS SANDESH AND THIS PROJECT I HAVE UTILIZED SQL QUERIES TO SOLVE A QUESTIONS THAT WERE RELETED TO PIZZA SALES.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42923" y="1374955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85542" y="1374955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60836" y="4300183"/>
            <a:ext cx="7318804" cy="2558830"/>
          </a:xfrm>
          <a:custGeom>
            <a:avLst/>
            <a:gdLst/>
            <a:ahLst/>
            <a:cxnLst/>
            <a:rect r="r" b="b" t="t" l="l"/>
            <a:pathLst>
              <a:path h="2558830" w="7318804">
                <a:moveTo>
                  <a:pt x="0" y="0"/>
                </a:moveTo>
                <a:lnTo>
                  <a:pt x="7318804" y="0"/>
                </a:lnTo>
                <a:lnTo>
                  <a:pt x="7318804" y="2558830"/>
                </a:lnTo>
                <a:lnTo>
                  <a:pt x="0" y="2558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22784" y="7268588"/>
            <a:ext cx="3242433" cy="1844320"/>
          </a:xfrm>
          <a:custGeom>
            <a:avLst/>
            <a:gdLst/>
            <a:ahLst/>
            <a:cxnLst/>
            <a:rect r="r" b="b" t="t" l="l"/>
            <a:pathLst>
              <a:path h="1844320" w="3242433">
                <a:moveTo>
                  <a:pt x="0" y="0"/>
                </a:moveTo>
                <a:lnTo>
                  <a:pt x="3242432" y="0"/>
                </a:lnTo>
                <a:lnTo>
                  <a:pt x="3242432" y="1844320"/>
                </a:lnTo>
                <a:lnTo>
                  <a:pt x="0" y="18443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3038" y="789181"/>
            <a:ext cx="9325174" cy="310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15"/>
              </a:lnSpc>
              <a:spcBef>
                <a:spcPct val="0"/>
              </a:spcBef>
            </a:pPr>
            <a:r>
              <a:rPr lang="en-US" sz="8349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RETRIEVE THE TOTAL NUMBER OF ORDERS PLACED.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58277" y="-2416020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8193" y="893957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0762" y="102870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30588" y="2792181"/>
            <a:ext cx="6826824" cy="2720464"/>
          </a:xfrm>
          <a:custGeom>
            <a:avLst/>
            <a:gdLst/>
            <a:ahLst/>
            <a:cxnLst/>
            <a:rect r="r" b="b" t="t" l="l"/>
            <a:pathLst>
              <a:path h="2720464" w="6826824">
                <a:moveTo>
                  <a:pt x="0" y="0"/>
                </a:moveTo>
                <a:lnTo>
                  <a:pt x="6826824" y="0"/>
                </a:lnTo>
                <a:lnTo>
                  <a:pt x="6826824" y="2720464"/>
                </a:lnTo>
                <a:lnTo>
                  <a:pt x="0" y="2720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83900" y="6280666"/>
            <a:ext cx="2738663" cy="1564950"/>
          </a:xfrm>
          <a:custGeom>
            <a:avLst/>
            <a:gdLst/>
            <a:ahLst/>
            <a:cxnLst/>
            <a:rect r="r" b="b" t="t" l="l"/>
            <a:pathLst>
              <a:path h="1564950" w="2738663">
                <a:moveTo>
                  <a:pt x="0" y="0"/>
                </a:moveTo>
                <a:lnTo>
                  <a:pt x="2738663" y="0"/>
                </a:lnTo>
                <a:lnTo>
                  <a:pt x="2738663" y="1564951"/>
                </a:lnTo>
                <a:lnTo>
                  <a:pt x="0" y="1564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8671" y="1008257"/>
            <a:ext cx="13670658" cy="195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25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CALCULATE THE TOTAL REVENUE GENERATED FROM PIZZA SALES.</a:t>
            </a:r>
          </a:p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7608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39819" y="833155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4850" y="862291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68517" y="2421542"/>
            <a:ext cx="8950965" cy="3340463"/>
          </a:xfrm>
          <a:custGeom>
            <a:avLst/>
            <a:gdLst/>
            <a:ahLst/>
            <a:cxnLst/>
            <a:rect r="r" b="b" t="t" l="l"/>
            <a:pathLst>
              <a:path h="3340463" w="8950965">
                <a:moveTo>
                  <a:pt x="0" y="0"/>
                </a:moveTo>
                <a:lnTo>
                  <a:pt x="8950966" y="0"/>
                </a:lnTo>
                <a:lnTo>
                  <a:pt x="8950966" y="3340463"/>
                </a:lnTo>
                <a:lnTo>
                  <a:pt x="0" y="3340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03922" y="6457330"/>
            <a:ext cx="5033471" cy="2140672"/>
          </a:xfrm>
          <a:custGeom>
            <a:avLst/>
            <a:gdLst/>
            <a:ahLst/>
            <a:cxnLst/>
            <a:rect r="r" b="b" t="t" l="l"/>
            <a:pathLst>
              <a:path h="2140672" w="5033471">
                <a:moveTo>
                  <a:pt x="0" y="0"/>
                </a:moveTo>
                <a:lnTo>
                  <a:pt x="5033472" y="0"/>
                </a:lnTo>
                <a:lnTo>
                  <a:pt x="5033472" y="2140672"/>
                </a:lnTo>
                <a:lnTo>
                  <a:pt x="0" y="2140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74816" y="790010"/>
            <a:ext cx="13575015" cy="93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1"/>
              </a:lnSpc>
              <a:spcBef>
                <a:spcPct val="0"/>
              </a:spcBef>
            </a:pPr>
            <a:r>
              <a:rPr lang="en-US" sz="7188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IDENTIFY THE HIGHESTPRICED PIZZA.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58296" y="-4279063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783879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68793" y="783879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09628" y="3602029"/>
            <a:ext cx="7068744" cy="1541471"/>
          </a:xfrm>
          <a:custGeom>
            <a:avLst/>
            <a:gdLst/>
            <a:ahLst/>
            <a:cxnLst/>
            <a:rect r="r" b="b" t="t" l="l"/>
            <a:pathLst>
              <a:path h="1541471" w="7068744">
                <a:moveTo>
                  <a:pt x="0" y="0"/>
                </a:moveTo>
                <a:lnTo>
                  <a:pt x="7068744" y="0"/>
                </a:lnTo>
                <a:lnTo>
                  <a:pt x="7068744" y="1541471"/>
                </a:lnTo>
                <a:lnTo>
                  <a:pt x="0" y="1541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96617" y="5851303"/>
            <a:ext cx="4494765" cy="2584490"/>
          </a:xfrm>
          <a:custGeom>
            <a:avLst/>
            <a:gdLst/>
            <a:ahLst/>
            <a:cxnLst/>
            <a:rect r="r" b="b" t="t" l="l"/>
            <a:pathLst>
              <a:path h="2584490" w="4494765">
                <a:moveTo>
                  <a:pt x="0" y="0"/>
                </a:moveTo>
                <a:lnTo>
                  <a:pt x="4494766" y="0"/>
                </a:lnTo>
                <a:lnTo>
                  <a:pt x="4494766" y="2584490"/>
                </a:lnTo>
                <a:lnTo>
                  <a:pt x="0" y="2584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5854" y="693295"/>
            <a:ext cx="13093404" cy="285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9"/>
              </a:lnSpc>
            </a:pPr>
            <a:r>
              <a:rPr lang="en-US" sz="7707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IDENTIFY THE MOST COMMON PIZZA SIZE ORDERED.</a:t>
            </a:r>
          </a:p>
          <a:p>
            <a:pPr algn="l" marL="0" indent="0" lvl="0">
              <a:lnSpc>
                <a:spcPts val="7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13055" y="1385994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45257" y="1385994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0249" y="3225688"/>
            <a:ext cx="6627501" cy="3198303"/>
          </a:xfrm>
          <a:custGeom>
            <a:avLst/>
            <a:gdLst/>
            <a:ahLst/>
            <a:cxnLst/>
            <a:rect r="r" b="b" t="t" l="l"/>
            <a:pathLst>
              <a:path h="3198303" w="6627501">
                <a:moveTo>
                  <a:pt x="0" y="0"/>
                </a:moveTo>
                <a:lnTo>
                  <a:pt x="6627502" y="0"/>
                </a:lnTo>
                <a:lnTo>
                  <a:pt x="6627502" y="3198303"/>
                </a:lnTo>
                <a:lnTo>
                  <a:pt x="0" y="3198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74362" y="6741884"/>
            <a:ext cx="4139277" cy="2490582"/>
          </a:xfrm>
          <a:custGeom>
            <a:avLst/>
            <a:gdLst/>
            <a:ahLst/>
            <a:cxnLst/>
            <a:rect r="r" b="b" t="t" l="l"/>
            <a:pathLst>
              <a:path h="2490582" w="4139277">
                <a:moveTo>
                  <a:pt x="0" y="0"/>
                </a:moveTo>
                <a:lnTo>
                  <a:pt x="4139276" y="0"/>
                </a:lnTo>
                <a:lnTo>
                  <a:pt x="4139276" y="2490582"/>
                </a:lnTo>
                <a:lnTo>
                  <a:pt x="0" y="2490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13169" y="1500294"/>
            <a:ext cx="9812988" cy="195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25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LIST THE TOP 5 MOST ORDERED PIZZA TYPES ALONG WITH THEIR QUANTITIES.</a:t>
            </a:r>
          </a:p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6525" y="10943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54437" y="-6571985"/>
            <a:ext cx="13673516" cy="136735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11299" y="10943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74143" y="2740057"/>
            <a:ext cx="8361690" cy="3993896"/>
          </a:xfrm>
          <a:custGeom>
            <a:avLst/>
            <a:gdLst/>
            <a:ahLst/>
            <a:cxnLst/>
            <a:rect r="r" b="b" t="t" l="l"/>
            <a:pathLst>
              <a:path h="3993896" w="8361690">
                <a:moveTo>
                  <a:pt x="0" y="0"/>
                </a:moveTo>
                <a:lnTo>
                  <a:pt x="8361690" y="0"/>
                </a:lnTo>
                <a:lnTo>
                  <a:pt x="8361690" y="3993896"/>
                </a:lnTo>
                <a:lnTo>
                  <a:pt x="0" y="39938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23440" y="7101531"/>
            <a:ext cx="3611936" cy="2741590"/>
          </a:xfrm>
          <a:custGeom>
            <a:avLst/>
            <a:gdLst/>
            <a:ahLst/>
            <a:cxnLst/>
            <a:rect r="r" b="b" t="t" l="l"/>
            <a:pathLst>
              <a:path h="2741590" w="3611936">
                <a:moveTo>
                  <a:pt x="0" y="0"/>
                </a:moveTo>
                <a:lnTo>
                  <a:pt x="3611936" y="0"/>
                </a:lnTo>
                <a:lnTo>
                  <a:pt x="3611936" y="2741590"/>
                </a:lnTo>
                <a:lnTo>
                  <a:pt x="0" y="2741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76829" y="869014"/>
            <a:ext cx="12036904" cy="128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6"/>
              </a:lnSpc>
            </a:pPr>
            <a:r>
              <a:rPr lang="en-US" sz="5193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JOIN THE NECESSARY TABLES TO FIND THE TOTAL QUANTITY OF EACH PIZZA CATEGORY ORDERED.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4963" y="132237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74474" y="132237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3732" y="3322025"/>
            <a:ext cx="7540537" cy="1830063"/>
          </a:xfrm>
          <a:custGeom>
            <a:avLst/>
            <a:gdLst/>
            <a:ahLst/>
            <a:cxnLst/>
            <a:rect r="r" b="b" t="t" l="l"/>
            <a:pathLst>
              <a:path h="1830063" w="7540537">
                <a:moveTo>
                  <a:pt x="0" y="0"/>
                </a:moveTo>
                <a:lnTo>
                  <a:pt x="7540536" y="0"/>
                </a:lnTo>
                <a:lnTo>
                  <a:pt x="7540536" y="1830063"/>
                </a:lnTo>
                <a:lnTo>
                  <a:pt x="0" y="1830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16947" y="5538145"/>
            <a:ext cx="1931774" cy="4105020"/>
          </a:xfrm>
          <a:custGeom>
            <a:avLst/>
            <a:gdLst/>
            <a:ahLst/>
            <a:cxnLst/>
            <a:rect r="r" b="b" t="t" l="l"/>
            <a:pathLst>
              <a:path h="4105020" w="1931774">
                <a:moveTo>
                  <a:pt x="0" y="0"/>
                </a:moveTo>
                <a:lnTo>
                  <a:pt x="1931774" y="0"/>
                </a:lnTo>
                <a:lnTo>
                  <a:pt x="1931774" y="4105020"/>
                </a:lnTo>
                <a:lnTo>
                  <a:pt x="0" y="4105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5260" y="1171575"/>
            <a:ext cx="9275148" cy="215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81"/>
              </a:lnSpc>
              <a:spcBef>
                <a:spcPct val="0"/>
              </a:spcBef>
            </a:pPr>
            <a:r>
              <a:rPr lang="en-US" sz="5814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DETERMINE THE DISTRIBUTION OF ORDERS BY HOUR OF THE DAY.</a:t>
            </a:r>
          </a:p>
          <a:p>
            <a:pPr algn="ctr" marL="0" indent="0" lvl="0">
              <a:lnSpc>
                <a:spcPts val="55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099" y="3193671"/>
            <a:ext cx="10629271" cy="1706672"/>
          </a:xfrm>
          <a:custGeom>
            <a:avLst/>
            <a:gdLst/>
            <a:ahLst/>
            <a:cxnLst/>
            <a:rect r="r" b="b" t="t" l="l"/>
            <a:pathLst>
              <a:path h="1706672" w="10629271">
                <a:moveTo>
                  <a:pt x="0" y="0"/>
                </a:moveTo>
                <a:lnTo>
                  <a:pt x="10629271" y="0"/>
                </a:lnTo>
                <a:lnTo>
                  <a:pt x="10629271" y="1706671"/>
                </a:lnTo>
                <a:lnTo>
                  <a:pt x="0" y="1706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367" y="5714876"/>
            <a:ext cx="4495267" cy="3186206"/>
          </a:xfrm>
          <a:custGeom>
            <a:avLst/>
            <a:gdLst/>
            <a:ahLst/>
            <a:cxnLst/>
            <a:rect r="r" b="b" t="t" l="l"/>
            <a:pathLst>
              <a:path h="3186206" w="4495267">
                <a:moveTo>
                  <a:pt x="0" y="0"/>
                </a:moveTo>
                <a:lnTo>
                  <a:pt x="4495266" y="0"/>
                </a:lnTo>
                <a:lnTo>
                  <a:pt x="4495266" y="3186205"/>
                </a:lnTo>
                <a:lnTo>
                  <a:pt x="0" y="3186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3099" y="1030671"/>
            <a:ext cx="9661803" cy="113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8"/>
              </a:lnSpc>
              <a:spcBef>
                <a:spcPct val="0"/>
              </a:spcBef>
            </a:pPr>
            <a:r>
              <a:rPr lang="en-US" sz="458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JOIN RELEVANT TABLES TO FIND THE CATEGORY-WISE DISTRIBUTION OF PIZZAS.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05658" y="3403307"/>
            <a:ext cx="6276683" cy="2772202"/>
          </a:xfrm>
          <a:custGeom>
            <a:avLst/>
            <a:gdLst/>
            <a:ahLst/>
            <a:cxnLst/>
            <a:rect r="r" b="b" t="t" l="l"/>
            <a:pathLst>
              <a:path h="2772202" w="6276683">
                <a:moveTo>
                  <a:pt x="0" y="0"/>
                </a:moveTo>
                <a:lnTo>
                  <a:pt x="6276684" y="0"/>
                </a:lnTo>
                <a:lnTo>
                  <a:pt x="6276684" y="2772202"/>
                </a:lnTo>
                <a:lnTo>
                  <a:pt x="0" y="2772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92376" y="6830496"/>
            <a:ext cx="4903248" cy="1820513"/>
          </a:xfrm>
          <a:custGeom>
            <a:avLst/>
            <a:gdLst/>
            <a:ahLst/>
            <a:cxnLst/>
            <a:rect r="r" b="b" t="t" l="l"/>
            <a:pathLst>
              <a:path h="1820513" w="4903248">
                <a:moveTo>
                  <a:pt x="0" y="0"/>
                </a:moveTo>
                <a:lnTo>
                  <a:pt x="4903248" y="0"/>
                </a:lnTo>
                <a:lnTo>
                  <a:pt x="4903248" y="1820513"/>
                </a:lnTo>
                <a:lnTo>
                  <a:pt x="0" y="1820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12411" y="952500"/>
            <a:ext cx="8463177" cy="210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9"/>
              </a:lnSpc>
              <a:spcBef>
                <a:spcPct val="0"/>
              </a:spcBef>
            </a:pPr>
            <a:r>
              <a:rPr lang="en-US" sz="4013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GROUP THE ORDERS BY DATE AND CALCULATE THE AVERAGE NUMBER OF PIZZAS ORDERED PER DAY.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0854" y="2908545"/>
            <a:ext cx="7106293" cy="2893888"/>
          </a:xfrm>
          <a:custGeom>
            <a:avLst/>
            <a:gdLst/>
            <a:ahLst/>
            <a:cxnLst/>
            <a:rect r="r" b="b" t="t" l="l"/>
            <a:pathLst>
              <a:path h="2893888" w="7106293">
                <a:moveTo>
                  <a:pt x="0" y="0"/>
                </a:moveTo>
                <a:lnTo>
                  <a:pt x="7106292" y="0"/>
                </a:lnTo>
                <a:lnTo>
                  <a:pt x="7106292" y="2893888"/>
                </a:lnTo>
                <a:lnTo>
                  <a:pt x="0" y="2893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0871" y="6316783"/>
            <a:ext cx="4866259" cy="2044965"/>
          </a:xfrm>
          <a:custGeom>
            <a:avLst/>
            <a:gdLst/>
            <a:ahLst/>
            <a:cxnLst/>
            <a:rect r="r" b="b" t="t" l="l"/>
            <a:pathLst>
              <a:path h="2044965" w="4866259">
                <a:moveTo>
                  <a:pt x="0" y="0"/>
                </a:moveTo>
                <a:lnTo>
                  <a:pt x="4866258" y="0"/>
                </a:lnTo>
                <a:lnTo>
                  <a:pt x="4866258" y="2044965"/>
                </a:lnTo>
                <a:lnTo>
                  <a:pt x="0" y="2044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13118" y="858659"/>
            <a:ext cx="10661764" cy="153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1"/>
              </a:lnSpc>
              <a:spcBef>
                <a:spcPct val="0"/>
              </a:spcBef>
            </a:pPr>
            <a:r>
              <a:rPr lang="en-US" sz="6063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DETERMINE THE TOP 3 MOST ORDERED PIZZA TYPES BASED ON REVENUE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84649" y="6746909"/>
            <a:ext cx="3118702" cy="2329854"/>
          </a:xfrm>
          <a:custGeom>
            <a:avLst/>
            <a:gdLst/>
            <a:ahLst/>
            <a:cxnLst/>
            <a:rect r="r" b="b" t="t" l="l"/>
            <a:pathLst>
              <a:path h="2329854" w="3118702">
                <a:moveTo>
                  <a:pt x="0" y="0"/>
                </a:moveTo>
                <a:lnTo>
                  <a:pt x="3118702" y="0"/>
                </a:lnTo>
                <a:lnTo>
                  <a:pt x="3118702" y="2329854"/>
                </a:lnTo>
                <a:lnTo>
                  <a:pt x="0" y="2329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7827" y="2886681"/>
            <a:ext cx="6212345" cy="3394724"/>
          </a:xfrm>
          <a:custGeom>
            <a:avLst/>
            <a:gdLst/>
            <a:ahLst/>
            <a:cxnLst/>
            <a:rect r="r" b="b" t="t" l="l"/>
            <a:pathLst>
              <a:path h="3394724" w="6212345">
                <a:moveTo>
                  <a:pt x="0" y="0"/>
                </a:moveTo>
                <a:lnTo>
                  <a:pt x="6212346" y="0"/>
                </a:lnTo>
                <a:lnTo>
                  <a:pt x="6212346" y="3394724"/>
                </a:lnTo>
                <a:lnTo>
                  <a:pt x="0" y="3394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1413" y="942975"/>
            <a:ext cx="9325174" cy="158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  <a:spcBef>
                <a:spcPct val="0"/>
              </a:spcBef>
            </a:pPr>
            <a:r>
              <a:rPr lang="en-US" sz="458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CALCULATE THE PERCENTAGE CONTRIBUTION OF EACH PIZZA TYPE TO TOTAL REVENUE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943" y="2888565"/>
            <a:ext cx="6990047" cy="3728025"/>
          </a:xfrm>
          <a:custGeom>
            <a:avLst/>
            <a:gdLst/>
            <a:ahLst/>
            <a:cxnLst/>
            <a:rect r="r" b="b" t="t" l="l"/>
            <a:pathLst>
              <a:path h="3728025" w="6990047">
                <a:moveTo>
                  <a:pt x="0" y="0"/>
                </a:moveTo>
                <a:lnTo>
                  <a:pt x="6990047" y="0"/>
                </a:lnTo>
                <a:lnTo>
                  <a:pt x="6990047" y="3728024"/>
                </a:lnTo>
                <a:lnTo>
                  <a:pt x="0" y="3728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40570" y="3024872"/>
            <a:ext cx="4158048" cy="6678956"/>
          </a:xfrm>
          <a:custGeom>
            <a:avLst/>
            <a:gdLst/>
            <a:ahLst/>
            <a:cxnLst/>
            <a:rect r="r" b="b" t="t" l="l"/>
            <a:pathLst>
              <a:path h="6678956" w="4158048">
                <a:moveTo>
                  <a:pt x="0" y="0"/>
                </a:moveTo>
                <a:lnTo>
                  <a:pt x="4158049" y="0"/>
                </a:lnTo>
                <a:lnTo>
                  <a:pt x="4158049" y="6678956"/>
                </a:lnTo>
                <a:lnTo>
                  <a:pt x="0" y="6678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1413" y="942975"/>
            <a:ext cx="9325174" cy="158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  <a:spcBef>
                <a:spcPct val="0"/>
              </a:spcBef>
            </a:pPr>
            <a:r>
              <a:rPr lang="en-US" sz="458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AN</a:t>
            </a:r>
            <a:r>
              <a:rPr lang="en-US" sz="458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ALYZE THE CUMULATIVE REVENUE GENERATED OVER TIME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8298" y="2937625"/>
            <a:ext cx="5451403" cy="3395577"/>
          </a:xfrm>
          <a:custGeom>
            <a:avLst/>
            <a:gdLst/>
            <a:ahLst/>
            <a:cxnLst/>
            <a:rect r="r" b="b" t="t" l="l"/>
            <a:pathLst>
              <a:path h="3395577" w="5451403">
                <a:moveTo>
                  <a:pt x="0" y="0"/>
                </a:moveTo>
                <a:lnTo>
                  <a:pt x="5451404" y="0"/>
                </a:lnTo>
                <a:lnTo>
                  <a:pt x="5451404" y="3395577"/>
                </a:lnTo>
                <a:lnTo>
                  <a:pt x="0" y="3395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25742" y="6626370"/>
            <a:ext cx="3636516" cy="3386951"/>
          </a:xfrm>
          <a:custGeom>
            <a:avLst/>
            <a:gdLst/>
            <a:ahLst/>
            <a:cxnLst/>
            <a:rect r="r" b="b" t="t" l="l"/>
            <a:pathLst>
              <a:path h="3386951" w="3636516">
                <a:moveTo>
                  <a:pt x="0" y="0"/>
                </a:moveTo>
                <a:lnTo>
                  <a:pt x="3636516" y="0"/>
                </a:lnTo>
                <a:lnTo>
                  <a:pt x="3636516" y="3386951"/>
                </a:lnTo>
                <a:lnTo>
                  <a:pt x="0" y="3386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27047" y="589000"/>
            <a:ext cx="7633906" cy="195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1"/>
              </a:lnSpc>
              <a:spcBef>
                <a:spcPct val="0"/>
              </a:spcBef>
            </a:pPr>
            <a:r>
              <a:rPr lang="en-US" sz="3751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DETERMINE THE TOP 3 MOST ORDERED PIZZA TYPES BASED ON REVENUE FOR EACH PIZZA CATEGORY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58748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818061" y="925830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220652" y="5143500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63324" y="439974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91087">
            <a:off x="7175853" y="-2153656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2"/>
                </a:lnTo>
                <a:lnTo>
                  <a:pt x="0" y="43073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275355" y="902740"/>
            <a:ext cx="6226825" cy="856217"/>
            <a:chOff x="0" y="0"/>
            <a:chExt cx="1639987" cy="225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39987" cy="225506"/>
            </a:xfrm>
            <a:custGeom>
              <a:avLst/>
              <a:gdLst/>
              <a:ahLst/>
              <a:cxnLst/>
              <a:rect r="r" b="b" t="t" l="l"/>
              <a:pathLst>
                <a:path h="225506" w="1639987">
                  <a:moveTo>
                    <a:pt x="112753" y="0"/>
                  </a:moveTo>
                  <a:lnTo>
                    <a:pt x="1527234" y="0"/>
                  </a:lnTo>
                  <a:cubicBezTo>
                    <a:pt x="1589505" y="0"/>
                    <a:pt x="1639987" y="50481"/>
                    <a:pt x="1639987" y="112753"/>
                  </a:cubicBezTo>
                  <a:lnTo>
                    <a:pt x="1639987" y="112753"/>
                  </a:lnTo>
                  <a:cubicBezTo>
                    <a:pt x="1639987" y="175025"/>
                    <a:pt x="1589505" y="225506"/>
                    <a:pt x="1527234" y="225506"/>
                  </a:cubicBezTo>
                  <a:lnTo>
                    <a:pt x="112753" y="225506"/>
                  </a:lnTo>
                  <a:cubicBezTo>
                    <a:pt x="50481" y="225506"/>
                    <a:pt x="0" y="175025"/>
                    <a:pt x="0" y="112753"/>
                  </a:cubicBezTo>
                  <a:lnTo>
                    <a:pt x="0" y="112753"/>
                  </a:lnTo>
                  <a:cubicBezTo>
                    <a:pt x="0" y="50481"/>
                    <a:pt x="50481" y="0"/>
                    <a:pt x="112753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39987" cy="282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24728" y="1012115"/>
            <a:ext cx="2087209" cy="637467"/>
            <a:chOff x="0" y="0"/>
            <a:chExt cx="549718" cy="167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9718" cy="167893"/>
            </a:xfrm>
            <a:custGeom>
              <a:avLst/>
              <a:gdLst/>
              <a:ahLst/>
              <a:cxnLst/>
              <a:rect r="r" b="b" t="t" l="l"/>
              <a:pathLst>
                <a:path h="167893" w="549718">
                  <a:moveTo>
                    <a:pt x="83946" y="0"/>
                  </a:moveTo>
                  <a:lnTo>
                    <a:pt x="465771" y="0"/>
                  </a:lnTo>
                  <a:cubicBezTo>
                    <a:pt x="512134" y="0"/>
                    <a:pt x="549718" y="37584"/>
                    <a:pt x="549718" y="83946"/>
                  </a:cubicBezTo>
                  <a:lnTo>
                    <a:pt x="549718" y="83946"/>
                  </a:lnTo>
                  <a:cubicBezTo>
                    <a:pt x="549718" y="130309"/>
                    <a:pt x="512134" y="167893"/>
                    <a:pt x="465771" y="167893"/>
                  </a:cubicBezTo>
                  <a:lnTo>
                    <a:pt x="83946" y="167893"/>
                  </a:lnTo>
                  <a:cubicBezTo>
                    <a:pt x="37584" y="167893"/>
                    <a:pt x="0" y="130309"/>
                    <a:pt x="0" y="83946"/>
                  </a:cubicBezTo>
                  <a:lnTo>
                    <a:pt x="0" y="83946"/>
                  </a:lnTo>
                  <a:cubicBezTo>
                    <a:pt x="0" y="37584"/>
                    <a:pt x="37584" y="0"/>
                    <a:pt x="839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49718" cy="225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26372" y="7714777"/>
            <a:ext cx="176597" cy="17659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84064" y="3678720"/>
            <a:ext cx="15506772" cy="374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4"/>
              </a:lnSpc>
            </a:pPr>
            <a:r>
              <a:rPr lang="en-US" sz="29150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38360" y="937714"/>
            <a:ext cx="1789180" cy="49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SHODWE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38360" y="1370894"/>
            <a:ext cx="1879301" cy="38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  <a:spcBef>
                <a:spcPct val="0"/>
              </a:spcBef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Pizza Resto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18818" y="7512345"/>
            <a:ext cx="7585118" cy="47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305" spc="6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2025 PIZZA RESTO PRESENTATION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84064" y="7325871"/>
            <a:ext cx="6821859" cy="118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6"/>
              </a:lnSpc>
            </a:pPr>
            <a:r>
              <a:rPr lang="en-US" sz="91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FOR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DAHIRYpyqEQ</dc:identifier>
  <dcterms:modified xsi:type="dcterms:W3CDTF">2011-08-01T06:04:30Z</dcterms:modified>
  <cp:revision>1</cp:revision>
  <dc:title>Brown Yellow Modern Bold Pizza Restaurant Presentation</dc:title>
</cp:coreProperties>
</file>